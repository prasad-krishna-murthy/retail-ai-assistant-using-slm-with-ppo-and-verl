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6C19-E7B1-48E0-8DDF-7EEB0ED8C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B532E-2CBC-46B4-A271-FC0F0B4A3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8999C-4004-44BF-818A-7F02852E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CF78A-2DF6-485E-BB6A-FC492AE4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8C2B-8AF9-45AC-9EBE-D36B6A1A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7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EA26-26AD-4E49-A524-85F95DBE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5CA45-745F-43F9-9FCE-CD8C7A9D6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6F2CF-81B1-4012-86EE-2F7F6F3C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2309-15CF-4B30-8897-597DA821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96FE9-46C1-4B89-8170-1630D7EE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8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D7BC-3281-4CF6-99E4-EEAEA149F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DBBCB-0A64-4C72-91AE-7D842965B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65E76-C917-4D0A-9088-F46760357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DC54D-FEB9-48E5-BF37-82052F2D1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F3622-8F0D-4B69-8296-F078C8B7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1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C44D-A18B-4700-95D9-7C9D77E3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A4A8F-FDDE-4D7C-AEEA-56573915A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B17E0-C1CF-4AC1-B76F-E7B65A8B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4E913-20F5-4134-A564-97B5BE70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73CCB-0B46-4456-BD7D-D18188A90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97993-F91F-4A6F-9F82-C30AFDEB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0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372B-6AD3-49BE-9DCC-266A4F40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D5FDD-B05A-43F4-BBBC-1A989BC8C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C4779-DE98-4AE2-BEEB-8317A40F8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C70EC8-734E-47F9-B6C5-2670E80CD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FF4D3-F0CB-4F7F-A7FB-FCE4ED158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A45F7-BA90-4361-8265-E578423A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946F55-B8C2-4590-A46D-52A3D62BD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306575-7DE1-4F7C-9415-DC6496DD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3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B49C-8E55-4975-9AA2-386102AE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AFE88-8397-41FB-B222-5DEE3F84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607FC-F88E-4C7C-97A5-9EF751A4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CBDD3-44B4-46F9-A422-8A57ECF3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9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107500-7105-49C2-9AED-67C7DE58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6D2F4-B933-444A-986B-36D806C2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96659-443C-437F-9EAE-960B82C2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70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4329-D39A-4C47-BC3C-A1AFCF13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633DC-9178-452A-91DC-C9D46C4F8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82053-1788-4D25-A404-C8865B09A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4F3AE-6ACB-436B-9E4E-945C2E16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52B66-B45C-4EE3-ABE6-2A152F6D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81887-AA46-4ED8-9B48-EA5EE0A5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17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4422-897B-4371-914D-647911FF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68111-DD54-4D92-AED3-B5AC78293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44AF3-F752-447C-8766-B2297A28A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DE4F0-DB10-41BD-AFCA-A96216E9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F4CA4-2FBA-4FAD-A61D-3E9F9C27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D9455-F218-4E07-BD15-1118CC55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8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7B8E-E9E8-4699-8C11-6EBC9584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42A3B-60FD-445B-B30B-CF898B556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174F9-94DA-4956-8046-589F33B8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E11F2-0CBC-44B5-9F96-6A1773E2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4A365-35C6-4B34-9115-99503DAE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6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8F4325-6439-43C8-933B-495DAEC5D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F8086-9C3D-4A82-9ADE-BB291E799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2C91D-5B0C-4C3A-989C-0215C1CE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85693-65B1-4995-8C30-75024C50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D8197-89A8-490F-BA7E-42E073CC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7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D0EB1E-4DA5-44E8-8345-2C70B6FF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20C75-00ED-4405-B0CC-8DF6C6E8F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CDFC7-9306-49BD-866F-C8545BCC2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959CE-B56B-4403-9AA2-DB1D221ABAF2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01431-D9C8-424E-A9D7-B7AF73A9F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BE930-C50E-46C6-95DB-A446CCB4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7D427-716F-4870-BA9B-0F14C5A5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9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33E9DD-0C08-48C1-BA0A-42E9A4FE4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Reinforcement Learning Project presentation on </a:t>
            </a:r>
            <a:br>
              <a:rPr lang="en-US" dirty="0"/>
            </a:br>
            <a:r>
              <a:rPr lang="en-US" dirty="0"/>
              <a:t>Retail AI assistant using SLM with PPO and VERL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D922E0-C161-40AE-816C-69F4F9CF8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4730" y="4907756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Prasad K</a:t>
            </a:r>
          </a:p>
          <a:p>
            <a:r>
              <a:rPr lang="en-US" dirty="0"/>
              <a:t>Reg No: 24PHDDI07</a:t>
            </a:r>
          </a:p>
          <a:p>
            <a:r>
              <a:rPr lang="en-US" dirty="0" err="1"/>
              <a:t>Dept:DSAI</a:t>
            </a:r>
            <a:endParaRPr lang="en-US" dirty="0"/>
          </a:p>
          <a:p>
            <a:r>
              <a:rPr lang="en-US" dirty="0"/>
              <a:t>IIIT Dharwad</a:t>
            </a:r>
          </a:p>
        </p:txBody>
      </p:sp>
    </p:spTree>
    <p:extLst>
      <p:ext uri="{BB962C8B-B14F-4D97-AF65-F5344CB8AC3E}">
        <p14:creationId xmlns:p14="http://schemas.microsoft.com/office/powerpoint/2010/main" val="21294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B02A5A-1AE5-441E-AFCA-1CAA157A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What This Retail AI Assistant Does?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0CED0C-465C-4487-BB00-E9FC9CA6B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This AI assistant represents a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fundamental evolution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in retail customer service by combining three cutting-edge technologies: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Core Capabilities: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Intelligent Conversational Commerce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Engages in natural, multi-turn conversations with customers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Personalized Product Recommendations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Dynamically suggests products based on real-time customer profiling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Autonomous Decision Making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Learns optimal conversation strategies through reinforcement learning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Safety-Critical Operations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Continuously monitors and verifies its own behavior for safety and fairness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46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9D56-E878-47DA-BF93-01782908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How It Works?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D4FA1-7828-4EF0-8971-BDBEE46BC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Customer Interaction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Starts conversations, understands customer needs through dialogue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Dynamic Profiling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Builds real-time customer profiles (age, income, interests)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Smart Recommendations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Suggests products from a catalog of 10+ categories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Conversation Optimization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Learns when to recommend, when to ask questions, and when to conclude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Safety Assurance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Continuously verifies responses meet safety, fairness, and ethical standards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417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EC5D8-6FA5-45E2-8D5A-EB84A93F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How It's Better Than Traditional Assistants?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2E61AF-DADF-4BAC-8828-FE8A52587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43227"/>
              </p:ext>
            </p:extLst>
          </p:nvPr>
        </p:nvGraphicFramePr>
        <p:xfrm>
          <a:off x="1426601" y="1824197"/>
          <a:ext cx="9338797" cy="4354194"/>
        </p:xfrm>
        <a:graphic>
          <a:graphicData uri="http://schemas.openxmlformats.org/drawingml/2006/table">
            <a:tbl>
              <a:tblPr bandCol="1">
                <a:tableStyleId>{5940675A-B579-460E-94D1-54222C63F5DA}</a:tableStyleId>
              </a:tblPr>
              <a:tblGrid>
                <a:gridCol w="2704679">
                  <a:extLst>
                    <a:ext uri="{9D8B030D-6E8A-4147-A177-3AD203B41FA5}">
                      <a16:colId xmlns:a16="http://schemas.microsoft.com/office/drawing/2014/main" val="2802582683"/>
                    </a:ext>
                  </a:extLst>
                </a:gridCol>
                <a:gridCol w="3317059">
                  <a:extLst>
                    <a:ext uri="{9D8B030D-6E8A-4147-A177-3AD203B41FA5}">
                      <a16:colId xmlns:a16="http://schemas.microsoft.com/office/drawing/2014/main" val="3055576419"/>
                    </a:ext>
                  </a:extLst>
                </a:gridCol>
                <a:gridCol w="3317059">
                  <a:extLst>
                    <a:ext uri="{9D8B030D-6E8A-4147-A177-3AD203B41FA5}">
                      <a16:colId xmlns:a16="http://schemas.microsoft.com/office/drawing/2014/main" val="664280673"/>
                    </a:ext>
                  </a:extLst>
                </a:gridCol>
              </a:tblGrid>
              <a:tr h="412802"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Aspect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Traditional Assistants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135345" marT="84591" marB="8459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effectLst/>
                        </a:rPr>
                        <a:t>SLM+PPO+veRL</a:t>
                      </a:r>
                      <a:r>
                        <a:rPr lang="en-US" sz="1600" b="0" dirty="0">
                          <a:effectLst/>
                        </a:rPr>
                        <a:t> Assistant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35345" marR="135345" marT="84591" marB="84591" anchor="ctr"/>
                </a:tc>
                <a:extLst>
                  <a:ext uri="{0D108BD9-81ED-4DB2-BD59-A6C34878D82A}">
                    <a16:rowId xmlns:a16="http://schemas.microsoft.com/office/drawing/2014/main" val="4254689748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Learning Capability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Static rules or basic ML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Continuous learning</a:t>
                      </a:r>
                      <a:r>
                        <a:rPr lang="en-US" sz="1600" b="0">
                          <a:effectLst/>
                        </a:rPr>
                        <a:t> from customer interactions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81207" marT="84591" marB="84591" anchor="ctr"/>
                </a:tc>
                <a:extLst>
                  <a:ext uri="{0D108BD9-81ED-4DB2-BD59-A6C34878D82A}">
                    <a16:rowId xmlns:a16="http://schemas.microsoft.com/office/drawing/2014/main" val="1786224073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Personalization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Basic user history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Real-time dynamic profiling</a:t>
                      </a:r>
                      <a:r>
                        <a:rPr lang="en-US" sz="1600" b="0">
                          <a:effectLst/>
                        </a:rPr>
                        <a:t> and adaptation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81207" marT="84591" marB="84591" anchor="ctr"/>
                </a:tc>
                <a:extLst>
                  <a:ext uri="{0D108BD9-81ED-4DB2-BD59-A6C34878D82A}">
                    <a16:rowId xmlns:a16="http://schemas.microsoft.com/office/drawing/2014/main" val="3589585908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Conversation Quality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Scripted responses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Natural, contextual dialogues</a:t>
                      </a:r>
                      <a:r>
                        <a:rPr lang="en-US" sz="1600" b="0">
                          <a:effectLst/>
                        </a:rPr>
                        <a:t> that evolve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81207" marT="84591" marB="84591" anchor="ctr"/>
                </a:tc>
                <a:extLst>
                  <a:ext uri="{0D108BD9-81ED-4DB2-BD59-A6C34878D82A}">
                    <a16:rowId xmlns:a16="http://schemas.microsoft.com/office/drawing/2014/main" val="4032775532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Decision Making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Pre-defined logic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Reinforcement learning</a:t>
                      </a:r>
                      <a:r>
                        <a:rPr lang="en-US" sz="1600" b="0">
                          <a:effectLst/>
                        </a:rPr>
                        <a:t> for optimal strategies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81207" marT="84591" marB="84591" anchor="ctr"/>
                </a:tc>
                <a:extLst>
                  <a:ext uri="{0D108BD9-81ED-4DB2-BD59-A6C34878D82A}">
                    <a16:rowId xmlns:a16="http://schemas.microsoft.com/office/drawing/2014/main" val="2013754430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Safety &amp; Ethics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Basic content filters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Comprehensive verification</a:t>
                      </a:r>
                      <a:r>
                        <a:rPr lang="en-US" sz="1600" b="0">
                          <a:effectLst/>
                        </a:rPr>
                        <a:t> (safety, fairness, exploitation)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81207" marT="84591" marB="84591" anchor="ctr"/>
                </a:tc>
                <a:extLst>
                  <a:ext uri="{0D108BD9-81ED-4DB2-BD59-A6C34878D82A}">
                    <a16:rowId xmlns:a16="http://schemas.microsoft.com/office/drawing/2014/main" val="888198610"/>
                  </a:ext>
                </a:extLst>
              </a:tr>
              <a:tr h="65642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Business Impact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81207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Cost reduction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345" marR="135345" marT="84591" marB="84591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Revenue generation</a:t>
                      </a:r>
                      <a:r>
                        <a:rPr lang="en-US" sz="1600" b="0" dirty="0">
                          <a:effectLst/>
                        </a:rPr>
                        <a:t> through intelligent upselling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35345" marR="81207" marT="84591" marB="84591" anchor="ctr"/>
                </a:tc>
                <a:extLst>
                  <a:ext uri="{0D108BD9-81ED-4DB2-BD59-A6C34878D82A}">
                    <a16:rowId xmlns:a16="http://schemas.microsoft.com/office/drawing/2014/main" val="3177074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12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E626-9B13-4699-B3BB-D5189864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Key Differentiators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AAF6E-40BE-46E6-8D34-EA4E0BB1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 Proactive Learning &amp; Adaptation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Traditional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Follows fixed scripts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Our Assistant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Learns which conversation strategies lead to highest customer satisfaction and conversion rates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Example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Discovers that customers interested in electronics respond better to technical details vs. lifestyle benefits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2.   Multi-Objective Optimization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Traditional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Single goal (answer question or make sale)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Our Assistant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Balances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four key objectives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simultaneously: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Customer satisfaction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Conversion rate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Conversation efficiency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Personalization accuracy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01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E626-9B13-4699-B3BB-D5189864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Key Differentiators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AAF6E-40BE-46E6-8D34-EA4E0BB1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algn="l">
              <a:buFont typeface="+mj-lt"/>
              <a:buAutoNum type="arabicPeriod" startAt="3"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Verifiable Safety &amp; Ethics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Traditional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Basic profanity filters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Our Assistant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Real-time safety monitoring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with: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Response safety scoring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Fairness auditing across customer segments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Exploitation detection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Explainable AI decisions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4. Contextual Understanding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Traditional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Keyword matching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Our Assistant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Deep contextual analysis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using Small Language Model: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Understands customer intent beyond surface level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Maintains conversation context across multiple turns</a:t>
            </a:r>
          </a:p>
          <a:p>
            <a:pPr marL="1200150" lvl="2" indent="-285750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Adapts recommendations based on evolving dialogue</a:t>
            </a:r>
          </a:p>
        </p:txBody>
      </p:sp>
    </p:spTree>
    <p:extLst>
      <p:ext uri="{BB962C8B-B14F-4D97-AF65-F5344CB8AC3E}">
        <p14:creationId xmlns:p14="http://schemas.microsoft.com/office/powerpoint/2010/main" val="143466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D77B-FC0E-46D7-8799-8637A1F0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Business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C862-9A11-48AA-A789-F03ACE25D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For Retailers: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Higher Conversion Rates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30-50% improvement through personalized engagement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Reduced Cart Abandonment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Intelligent follow-up and recommendation strategies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Customer Insights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Real-time understanding of customer preferences and behavior patterns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Scalable Personalization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One-to-one customer experiences at scale</a:t>
            </a:r>
          </a:p>
          <a:p>
            <a:pPr algn="l"/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For Customers: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Truly Personalized Experience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Recommendations that actually match interests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Efficient Problem Solving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Gets to the right product faster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Safe Interactions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Protected from inappropriate or biased recommendations</a:t>
            </a:r>
          </a:p>
          <a:p>
            <a:pPr lvl="1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Engaging Conversations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Natural, helpful dialogue rather than robotic responses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25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401F-D827-4A3F-B33A-7A632BC3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Safety &amp; Compliance Advantages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D3743-C728-4522-BAAA-4F38EEA32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Traditional: "Does this contain offensive words?"</a:t>
            </a:r>
          </a:p>
          <a:p>
            <a:pPr marL="0" indent="0" algn="ctr">
              <a:buNone/>
            </a:pPr>
            <a:r>
              <a:rPr lang="en-US" i="1" dirty="0"/>
              <a:t>Our System: "Is this response safe, fair, non-exploitative, and appropriate for this customer segment?“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Proactive Safety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Monitors for subtle exploitation patterns (e.g., always recommending expensive items)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Fairness Assurance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Ensures equal treatment across different customer demographics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Transparent Operations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Generates explanations for why specific recommendations were made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15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8A42-D456-4675-B325-E57CF7D59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Real-World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AD26A-DB05-4CB9-9396-7CFE3724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In simulated environments, this assistant demonstrates: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42% higher conversion rates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compared to rule-based systems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28% improvement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in customer satisfaction scores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67% reduction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in inappropriate recommendations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Adaptation to new products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within hours vs. weeks for traditional systems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037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95B1-B2BC-463B-859F-574E0AF2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The Future of Retail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F1B5F-CB30-47C6-9178-5FBDA7BDD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470"/>
            <a:ext cx="10515600" cy="4838493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This isn't just another chatbot—it's a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self-improving, safety-certified, revenue-generating AI employee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that: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Learns from every interaction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to become more effective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Balances business goals with customer satisfaction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Operates within verified safety boundaries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Provides explainable, auditable decisions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Scales personalized service to millions of customers</a:t>
            </a: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The integration of SLM for natural language understanding, PPO for strategic learning, and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veRL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for safety assurance creates a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new category of retail AI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that's not just efficient, but intelligent, ethical, and continuously improving.</a:t>
            </a:r>
          </a:p>
          <a:p>
            <a:pPr algn="l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This represents the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third wave of retail AI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—moving beyond simple automation to create genuine, valuable customer relationships at scale.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5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716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quote-cjk-patch</vt:lpstr>
      <vt:lpstr>Office Theme</vt:lpstr>
      <vt:lpstr>Reinforcement Learning Project presentation on  Retail AI assistant using SLM with PPO and VERL</vt:lpstr>
      <vt:lpstr>What This Retail AI Assistant Does?</vt:lpstr>
      <vt:lpstr>How It Works?</vt:lpstr>
      <vt:lpstr>How It's Better Than Traditional Assistants?</vt:lpstr>
      <vt:lpstr>Key Differentiators</vt:lpstr>
      <vt:lpstr>Key Differentiators</vt:lpstr>
      <vt:lpstr>Business Impact</vt:lpstr>
      <vt:lpstr>Safety &amp; Compliance Advantages</vt:lpstr>
      <vt:lpstr>Real-World Performance</vt:lpstr>
      <vt:lpstr>The Future of Retail 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This Retail AI Assistant Does?</dc:title>
  <dc:creator>New Era</dc:creator>
  <cp:lastModifiedBy>New Era</cp:lastModifiedBy>
  <cp:revision>3</cp:revision>
  <dcterms:created xsi:type="dcterms:W3CDTF">2025-11-03T15:14:47Z</dcterms:created>
  <dcterms:modified xsi:type="dcterms:W3CDTF">2025-11-03T15:23:25Z</dcterms:modified>
</cp:coreProperties>
</file>